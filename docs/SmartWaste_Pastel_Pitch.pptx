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43400" cy="5143500"/>
          </a:xfrm>
          <a:prstGeom prst="rect">
            <a:avLst/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0"/>
            <a:ext cx="4800600" cy="5143500"/>
          </a:xfrm>
          <a:prstGeom prst="rect">
            <a:avLst/>
          </a:prstGeom>
          <a:solidFill>
            <a:srgbClr val="EEF5EE"/>
          </a:solidFill>
          <a:ln w="12700">
            <a:solidFill>
              <a:srgbClr val="EEF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24528" y="0"/>
            <a:ext cx="237744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D8EDDF">
              <a:alpha val="6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097280" y="3200400"/>
            <a:ext cx="2926080" cy="2926080"/>
          </a:xfrm>
          <a:prstGeom prst="ellipse">
            <a:avLst/>
          </a:prstGeom>
          <a:solidFill>
            <a:srgbClr val="FAD9D5">
              <a:alpha val="70000"/>
            </a:srgbClr>
          </a:solidFill>
          <a:ln w="12700">
            <a:solidFill>
              <a:srgbClr val="C06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840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6A4F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7772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2C2C3A"/>
                </a:solidFill>
              </a:rPr>
              <a:t>60%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of waste is mis-sorted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or ends up in landfills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" y="2816352"/>
            <a:ext cx="3657600" cy="475488"/>
          </a:xfrm>
          <a:prstGeom prst="roundRect">
            <a:avLst>
              <a:gd name="adj" fmla="val 19231"/>
            </a:avLst>
          </a:prstGeom>
          <a:solidFill>
            <a:srgbClr val="FAD9D5"/>
          </a:solidFill>
          <a:ln w="15240">
            <a:solidFill>
              <a:srgbClr val="C06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8163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</a:rPr>
              <a:t>— Human error in sorting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456432"/>
            <a:ext cx="3657600" cy="475488"/>
          </a:xfrm>
          <a:prstGeom prst="roundRect">
            <a:avLst>
              <a:gd name="adj" fmla="val 19231"/>
            </a:avLst>
          </a:prstGeom>
          <a:solidFill>
            <a:srgbClr val="FDEBD0"/>
          </a:solidFill>
          <a:ln w="15240">
            <a:solidFill>
              <a:srgbClr val="C46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456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</a:rPr>
              <a:t>— Hygiene &amp; health hazards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4096512"/>
            <a:ext cx="3657600" cy="475488"/>
          </a:xfrm>
          <a:prstGeom prst="roundRect">
            <a:avLst>
              <a:gd name="adj" fmla="val 19231"/>
            </a:avLst>
          </a:prstGeom>
          <a:solidFill>
            <a:srgbClr val="D6E4F5"/>
          </a:solidFill>
          <a:ln w="15240">
            <a:solidFill>
              <a:srgbClr val="3A5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0965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3A"/>
                </a:solidFill>
              </a:rPr>
              <a:t>— Landfill overflow crisis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6A4F"/>
                </a:solidFill>
              </a:rPr>
              <a:t>INTRODUCING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841248"/>
            <a:ext cx="4343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2C3A"/>
                </a:solidFill>
              </a:rPr>
              <a:t>Smart Waste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C2C3A"/>
                </a:solidFill>
              </a:rPr>
              <a:t>Segregation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C2C3A"/>
                </a:solidFill>
              </a:rPr>
              <a:t>System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1772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Controlled by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3200400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320040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SHRIKE LITE CONTROLLER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3913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6A4F"/>
                </a:solidFill>
              </a:rPr>
              <a:t>Automated  ·  Touchless  ·  Instant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DD8CE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4828032"/>
            <a:ext cx="685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01 / 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D5B5"/>
                </a:solidFill>
              </a:rPr>
              <a:t>Proximity + Soil Moisture + Capacitive → Decision → Rotate → Dispatch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66760" y="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02 /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9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93268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3A"/>
                </a:solidFill>
              </a:rPr>
              <a:t>⬆️  Waste Dropped 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12161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User inserts waste into the top input bin.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1399032"/>
            <a:ext cx="0" cy="219456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1659636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596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62306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3A"/>
                </a:solidFill>
              </a:rPr>
              <a:t>📡  Proximity Sensor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190652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Detects presence of metallic objects near the sensor.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2089404"/>
            <a:ext cx="0" cy="219456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74320" y="2350008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1343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3A"/>
                </a:solidFill>
              </a:rPr>
              <a:t>💧  Soil Moisture Sensor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2596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Measures moisture content to identify wet/organic waste.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" y="2779776"/>
            <a:ext cx="0" cy="219456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74320" y="3040380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403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003804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3A"/>
                </a:solidFill>
              </a:rPr>
              <a:t>🧠  Shrike Lite Decides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32872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Controller reads all sensors and picks Metal / Wet / Dry.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" y="3470148"/>
            <a:ext cx="0" cy="219456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74320" y="3730752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3694176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3A"/>
                </a:solidFill>
              </a:rPr>
              <a:t>🔄  Base Rotates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1248" y="39776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Servo rotates platform to 0°, 120°, or 240°.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" y="4160520"/>
            <a:ext cx="0" cy="219456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74320" y="4421124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211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" y="438454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3A"/>
                </a:solidFill>
              </a:rPr>
              <a:t>🚪  Trapdoor Opens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46680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Waste falls in cleanly. Door closes. System resets.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57800" y="914400"/>
            <a:ext cx="0" cy="4160520"/>
          </a:xfrm>
          <a:prstGeom prst="line">
            <a:avLst/>
          </a:prstGeom>
          <a:noFill/>
          <a:ln w="12700">
            <a:solidFill>
              <a:srgbClr val="DDD8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9601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6A4F"/>
                </a:solidFill>
              </a:rPr>
              <a:t>RESULT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94960" y="1353312"/>
            <a:ext cx="3429000" cy="1078992"/>
          </a:xfrm>
          <a:prstGeom prst="rect">
            <a:avLst/>
          </a:prstGeom>
          <a:solidFill>
            <a:srgbClr val="FAD9D5"/>
          </a:solidFill>
          <a:ln w="19050">
            <a:solidFill>
              <a:srgbClr val="C0626A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68112" y="141732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🔩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81344" y="1463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</a:rPr>
              <a:t>METAL BIN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81344" y="18470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626A"/>
                </a:solidFill>
              </a:rPr>
              <a:t>0°  ·  Proximity sensor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2615184"/>
            <a:ext cx="3429000" cy="1078992"/>
          </a:xfrm>
          <a:prstGeom prst="rect">
            <a:avLst/>
          </a:prstGeom>
          <a:solidFill>
            <a:srgbClr val="D8EDD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68112" y="2679192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🍌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181344" y="2724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</a:rPr>
              <a:t>WET BIN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81344" y="31089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</a:rPr>
              <a:t>120°  ·  Capacitive + soil moisture sensors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94960" y="3877056"/>
            <a:ext cx="3429000" cy="1078992"/>
          </a:xfrm>
          <a:prstGeom prst="rect">
            <a:avLst/>
          </a:prstGeom>
          <a:solidFill>
            <a:srgbClr val="D6E4F5"/>
          </a:solidFill>
          <a:ln w="19050">
            <a:solidFill>
              <a:srgbClr val="3A5A8C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68112" y="3941064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181344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A"/>
                </a:solidFill>
              </a:rPr>
              <a:t>DRY BIN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181344" y="437083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8C"/>
                </a:solidFill>
              </a:rPr>
              <a:t>240°  ·  Paper, plastic &amp; dry materials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</a:rPr>
              <a:t>WHY CHOOSE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66760" y="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3F5"/>
                </a:solidFill>
              </a:rPr>
              <a:t>03 /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932688"/>
            <a:ext cx="1938528" cy="1444752"/>
          </a:xfrm>
          <a:prstGeom prst="rect">
            <a:avLst/>
          </a:prstGeom>
          <a:solidFill>
            <a:srgbClr val="FAD9D5"/>
          </a:solidFill>
          <a:ln w="19050">
            <a:solidFill>
              <a:srgbClr val="C0626A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0584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3A"/>
                </a:solidFill>
              </a:rPr>
              <a:t>&lt; 3s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3A"/>
                </a:solidFill>
              </a:rPr>
              <a:t>Sort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057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Per item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2304" y="932688"/>
            <a:ext cx="1938528" cy="1444752"/>
          </a:xfrm>
          <a:prstGeom prst="rect">
            <a:avLst/>
          </a:prstGeom>
          <a:solidFill>
            <a:srgbClr val="D8EDD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0584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3A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32304" y="17373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3A"/>
                </a:solidFill>
              </a:rPr>
              <a:t>Waste Types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32304" y="2057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Sorted automatically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932688"/>
            <a:ext cx="1938528" cy="1444752"/>
          </a:xfrm>
          <a:prstGeom prst="rect">
            <a:avLst/>
          </a:prstGeom>
          <a:solidFill>
            <a:srgbClr val="D6E4F5"/>
          </a:solidFill>
          <a:ln w="19050">
            <a:solidFill>
              <a:srgbClr val="3A5A8C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0584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3A"/>
                </a:solidFill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3A"/>
                </a:solidFill>
              </a:rPr>
              <a:t>Touchless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057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Zero human contact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932688"/>
            <a:ext cx="1938528" cy="1444752"/>
          </a:xfrm>
          <a:prstGeom prst="rect">
            <a:avLst/>
          </a:prstGeom>
          <a:solidFill>
            <a:srgbClr val="E8E3F5"/>
          </a:solidFill>
          <a:ln w="1905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100584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3A"/>
                </a:solidFill>
              </a:rPr>
              <a:t>24/7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11696" y="17373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3A"/>
                </a:solidFill>
              </a:rPr>
              <a:t>Uptime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11696" y="2057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Always ready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2542032"/>
            <a:ext cx="4059936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C4663A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25420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9264" y="2615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</a:rPr>
              <a:t>Fully Automated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907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 manual effort — sensors decide everything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2542032"/>
            <a:ext cx="4059936" cy="713232"/>
          </a:xfrm>
          <a:prstGeom prst="rect">
            <a:avLst/>
          </a:prstGeom>
          <a:solidFill>
            <a:srgbClr val="D8EDD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0016" y="25420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85232" y="2615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</a:rPr>
              <a:t>Precision Sorting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2907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Sensor-driven; no misclassification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" y="3383280"/>
            <a:ext cx="4059936" cy="713232"/>
          </a:xfrm>
          <a:prstGeom prst="rect">
            <a:avLst/>
          </a:prstGeom>
          <a:solidFill>
            <a:srgbClr val="FAD9D5"/>
          </a:solidFill>
          <a:ln w="12700">
            <a:solidFill>
              <a:srgbClr val="C0626A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3832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9264" y="3456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</a:rPr>
              <a:t>Hygienic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9264" y="3749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Zero contact with waste at any stage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08576" y="3383280"/>
            <a:ext cx="4059936" cy="713232"/>
          </a:xfrm>
          <a:prstGeom prst="rect">
            <a:avLst/>
          </a:prstGeom>
          <a:solidFill>
            <a:srgbClr val="D6E4F5"/>
          </a:solidFill>
          <a:ln w="12700">
            <a:solidFill>
              <a:srgbClr val="3A5A8C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0016" y="33832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85232" y="3456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</a:rPr>
              <a:t>Energy Efficient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85232" y="3749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Low-power microcontroller architecture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" y="4224528"/>
            <a:ext cx="4059936" cy="713232"/>
          </a:xfrm>
          <a:prstGeom prst="rect">
            <a:avLst/>
          </a:prstGeom>
          <a:solidFill>
            <a:srgbClr val="E8E3F5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84048" y="42245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69264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</a:rPr>
              <a:t>Compact &amp; Modular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9264" y="45902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Deploy in any indoor or outdoor space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08576" y="4224528"/>
            <a:ext cx="4059936" cy="713232"/>
          </a:xfrm>
          <a:prstGeom prst="rect">
            <a:avLst/>
          </a:prstGeom>
          <a:solidFill>
            <a:srgbClr val="D8EDD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00016" y="42245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285232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3A"/>
                </a:solidFill>
              </a:rPr>
              <a:t>Eco Impact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85232" y="45902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Boosts recycling rates, cuts landfill load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C4663A"/>
          </a:solidFill>
          <a:ln w="12700">
            <a:solidFill>
              <a:srgbClr val="C46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</a:rPr>
              <a:t>WHERE IT'S NEEDED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66760" y="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DDDC8"/>
                </a:solidFill>
              </a:rPr>
              <a:t>04 /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298448" cy="1188720"/>
          </a:xfrm>
          <a:prstGeom prst="rect">
            <a:avLst/>
          </a:prstGeom>
          <a:solidFill>
            <a:srgbClr val="D8EDDF"/>
          </a:solidFill>
          <a:ln w="1524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2412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3A"/>
                </a:solidFill>
              </a:rPr>
              <a:t>Schools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14500" y="987552"/>
            <a:ext cx="1298448" cy="1188720"/>
          </a:xfrm>
          <a:prstGeom prst="rect">
            <a:avLst/>
          </a:prstGeom>
          <a:solidFill>
            <a:srgbClr val="D6E4F5"/>
          </a:solidFill>
          <a:ln w="15240">
            <a:solidFill>
              <a:srgbClr val="3A5A8C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4500" y="102412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14500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3A"/>
                </a:solidFill>
              </a:rPr>
              <a:t>Offices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987552"/>
            <a:ext cx="1298448" cy="1188720"/>
          </a:xfrm>
          <a:prstGeom prst="rect">
            <a:avLst/>
          </a:prstGeom>
          <a:solidFill>
            <a:srgbClr val="FAD9D5"/>
          </a:solidFill>
          <a:ln w="15240">
            <a:solidFill>
              <a:srgbClr val="C0626A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72968" y="102412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72968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3A"/>
                </a:solidFill>
              </a:rPr>
              <a:t>Hospitals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1436" y="987552"/>
            <a:ext cx="1298448" cy="1188720"/>
          </a:xfrm>
          <a:prstGeom prst="rect">
            <a:avLst/>
          </a:prstGeom>
          <a:solidFill>
            <a:srgbClr val="FDEBD0"/>
          </a:solidFill>
          <a:ln w="15240">
            <a:solidFill>
              <a:srgbClr val="C4663A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31436" y="102412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31436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3A"/>
                </a:solidFill>
              </a:rPr>
              <a:t>Malls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987552"/>
            <a:ext cx="1298448" cy="1188720"/>
          </a:xfrm>
          <a:prstGeom prst="rect">
            <a:avLst/>
          </a:prstGeom>
          <a:solidFill>
            <a:srgbClr val="E8E3F5"/>
          </a:solidFill>
          <a:ln w="1524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9904" y="102412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🏘️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9904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3A"/>
                </a:solidFill>
              </a:rPr>
              <a:t>Housing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8372" y="987552"/>
            <a:ext cx="1298448" cy="1188720"/>
          </a:xfrm>
          <a:prstGeom prst="rect">
            <a:avLst/>
          </a:prstGeom>
          <a:solidFill>
            <a:srgbClr val="D8EDDF"/>
          </a:solidFill>
          <a:ln w="1524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8372" y="102412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8372" y="16824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3A"/>
                </a:solidFill>
              </a:rPr>
              <a:t>Industry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841248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237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A5568"/>
                </a:solidFill>
              </a:rPr>
              <a:t>The future of waste is </a:t>
            </a:r>
            <a:pPr indent="0" marL="0">
              <a:buNone/>
            </a:pPr>
            <a:r>
              <a:rPr lang="en-US" sz="2700" b="1" dirty="0">
                <a:solidFill>
                  <a:srgbClr val="2D6A4F"/>
                </a:solidFill>
              </a:rPr>
              <a:t>automated.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457200" y="3163824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Our Smart Waste Segregation System eliminates human error, reduces health risks,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and dramatically improves recycling rates — all in under 3 seconds per item.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2C2C3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0690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LET'S BUILD TOGETHER 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0560" y="4069080"/>
            <a:ext cx="4343400" cy="713232"/>
          </a:xfrm>
          <a:prstGeom prst="roundRect">
            <a:avLst>
              <a:gd name="adj" fmla="val 12821"/>
            </a:avLst>
          </a:prstGeom>
          <a:solidFill>
            <a:srgbClr val="D8EDDF"/>
          </a:solidFill>
          <a:ln w="1524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06908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</a:rPr>
              <a:t>Shrike Lite  ·  </a:t>
            </a:r>
            <a:pPr algn="ctr" indent="0" marL="0">
              <a:buNone/>
            </a:pPr>
            <a:r>
              <a:rPr lang="en-US" sz="1000" dirty="0">
                <a:solidFill>
                  <a:srgbClr val="2C2C3A"/>
                </a:solidFill>
              </a:rPr>
              <a:t>Proximity Sensor  ·  </a:t>
            </a:r>
            <a:pPr algn="ctr" indent="0" marL="0">
              <a:buNone/>
            </a:pPr>
            <a:r>
              <a:rPr lang="en-US" sz="1000" dirty="0">
                <a:solidFill>
                  <a:srgbClr val="2C2C3A"/>
                </a:solidFill>
              </a:rPr>
              <a:t>Soil Moisture  ·  </a:t>
            </a:r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</a:rPr>
              <a:t>Dual Servos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2026-04-28T11:39:06Z</dcterms:created>
  <dcterms:modified xsi:type="dcterms:W3CDTF">2026-04-28T11:39:06Z</dcterms:modified>
</cp:coreProperties>
</file>